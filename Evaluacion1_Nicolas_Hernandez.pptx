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Golos Text"/>
      <p:regular r:id="rId201314"/>
    </p:embeddedFont>
    <p:embeddedFont>
      <p:font typeface="Golos Text Medium"/>
      <p:regular r:id="rId201315"/>
    </p:embeddedFont>
    <p:embeddedFont>
      <p:font typeface="Golos Text SemiBold"/>
      <p:regular r:id="rId201316"/>
    </p:embeddedFont>
    <p:embeddedFont>
      <p:font typeface="Golos Text Bold"/>
      <p:regular r:id="rId201317"/>
    </p:embeddedFont>
    <p:embeddedFont>
      <p:font typeface="Playfair Display"/>
      <p:regular r:id="rId201318"/>
    </p:embeddedFont>
    <p:embeddedFont>
      <p:font typeface="Playfair Display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Presentaremos solo lo esencial: el problema, el diseño experimental, los cambios que mejoraron F1 y el resultado final en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no es maximizar Accuracy, sino priorizar clientes con posibilidad real de contratar.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regla clave es evitar fuga: todas las transformaciones se ajustan con entrenamiento y duration queda fuera.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evaluación separa aprendizaje, selección y generalización: la prueba no participa hasta el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base tiene 5.441 parámetros. Sus curvas sugieren sobreajuste temprano, por lo que probamos menos épocas y otros hiperparámetros.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cambio más claro fue detener antes: 15 épocas superan a 30 y 50. Batch 64 y lr 0,001 completan la mejor combinación inicial.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Aunque Binary Crossentropy es la opción teórica más común para clasificación binaria, en esta ejecución MSE obtuvo mejor F1 en validación, por eso se eligió experimentalmente.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Probamos L2, Batch Normalization y Dropout. En esta ejecución, regularizar redujo F1 de 0,4841 a 0,4143.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receta final: MLP 51–64–32–1, tanh, RMSprop, MSE, batch 64, máximo 15 épocas y EarlyStopping.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prueba obtenemos Accuracy 85,36% y F1 46,18% para yes. El modelo identifica 568 de 1.058 clientes positivos, con recall de 53,69%.
Conclusión oral: frente a un baseline que ignora la clase positiva, el MLP ofrece una lista priorizada y accionable para la campaña.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F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68829"/>
            <a:ext cx="584185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40" kern="100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Evaluación de una red MLP para predecir depósitos a plazo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585" y="2328736"/>
            <a:ext cx="5841854" cy="585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0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Problema, decisiones clave y resultados sobre Bank Marketing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585" y="3029942"/>
            <a:ext cx="6299042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Exposición oral · 45.211 registros analizados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585" y="5224066"/>
            <a:ext cx="1744024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22" kern="100" dirty="0">
                <a:solidFill>
                  <a:srgbClr val="D9D9D4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Problema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585" y="5497909"/>
            <a:ext cx="1744024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Clasificación binaria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658401" y="5224066"/>
            <a:ext cx="174412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22" kern="100" dirty="0">
                <a:solidFill>
                  <a:srgbClr val="D9D9D4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Modelo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8401" y="5497909"/>
            <a:ext cx="1744123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MLP de 51 entradas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07316" y="5224066"/>
            <a:ext cx="1744024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22" kern="100" dirty="0">
                <a:solidFill>
                  <a:srgbClr val="D9D9D4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Criterio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07316" y="5497909"/>
            <a:ext cx="1744024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F1 en validación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9585" y="5834936"/>
            <a:ext cx="629904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Objetivo: identificar clientes con mayor probabilidad de contratar.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585" y="6119813"/>
            <a:ext cx="6299042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Nicolás Hernández · Deep Learning DLY0100 · Duoc UC</a:t>
            </a:r>
            <a:endParaRPr lang="en-US" sz="12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1510"/>
            <a:ext cx="5537061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El objetivo es identificar clientes con mayor probabilidad de contratar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2302272"/>
            <a:ext cx="5537061" cy="1233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Clasificación binaria sobre </a:t>
            </a:r>
            <a:pPr algn="l" indent="0" marL="0">
              <a:lnSpc>
                <a:spcPct val="121000"/>
              </a:lnSpc>
              <a:spcAft>
                <a:spcPts val="1250"/>
              </a:spcAft>
              <a:buNone/>
            </a:pPr>
            <a:r>
              <a:rPr lang="en-US" sz="14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Bank Marketing de UCI</a:t>
            </a:r>
            <a:pPr algn="l" indent="0" marL="0">
              <a:lnSpc>
                <a:spcPct val="121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: predecir </a:t>
            </a:r>
            <a:pPr algn="l" indent="0" marL="0">
              <a:lnSpc>
                <a:spcPct val="121000"/>
              </a:lnSpc>
              <a:spcAft>
                <a:spcPts val="1250"/>
              </a:spcAft>
              <a:buNone/>
            </a:pPr>
            <a:r>
              <a:rPr lang="en-US" sz="14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yes</a:t>
            </a:r>
            <a:pPr algn="l" indent="0" marL="0">
              <a:lnSpc>
                <a:spcPct val="121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o </a:t>
            </a:r>
            <a:pPr algn="l" indent="0" marL="0">
              <a:lnSpc>
                <a:spcPct val="121000"/>
              </a:lnSpc>
              <a:spcAft>
                <a:spcPts val="1250"/>
              </a:spcAft>
              <a:buNone/>
            </a:pPr>
            <a:r>
              <a:rPr lang="en-US" sz="14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no</a:t>
            </a:r>
            <a:pPr algn="l" indent="0" marL="0">
              <a:lnSpc>
                <a:spcPct val="121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para un depósito a plazo.</a:t>
            </a:r>
            <a:endParaRPr lang="en-US" sz="14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45.211 registros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, 16 variables de entrada y una variable objetivo.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09585" y="3746500"/>
            <a:ext cx="5536962" cy="19050"/>
          </a:xfrm>
          <a:prstGeom prst="roundRect">
            <a:avLst>
              <a:gd name="adj" fmla="val 49999"/>
            </a:avLst>
          </a:prstGeom>
          <a:solidFill>
            <a:srgbClr val="4E4F53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979386"/>
            <a:ext cx="5537061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C24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11,7%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de clase positiva: F1 es más informativo que Accuracy.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4773097"/>
            <a:ext cx="5537061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Baseline siempre “no”: 88,3% de Accuracy, pero Recall = 0% para la clase positiva.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756231" y="609600"/>
            <a:ext cx="4825879" cy="5275659"/>
          </a:xfrm>
          <a:prstGeom prst="rect">
            <a:avLst/>
          </a:prstGeom>
          <a:noFill/>
          <a:ln w="12700">
            <a:solidFill>
              <a:srgbClr val="F2F2F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6231" y="609600"/>
            <a:ext cx="4825879" cy="52756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56231" y="6065123"/>
            <a:ext cx="543546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Desbalance: 11,7% yes frente a 88,3% no.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571196" y="6444952"/>
            <a:ext cx="620499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1510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Preprocesar bien evita un resultado irreal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299289"/>
            <a:ext cx="10247056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Cuatro decisiones importantes antes de entrenar.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09585" y="3028057"/>
            <a:ext cx="820122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FFC247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585" y="3285827"/>
            <a:ext cx="2400240" cy="19050"/>
          </a:xfrm>
          <a:prstGeom prst="rect">
            <a:avLst/>
          </a:prstGeom>
          <a:solidFill>
            <a:srgbClr val="FFC247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430611"/>
            <a:ext cx="2400240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Excluir duration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09585" y="3849390"/>
            <a:ext cx="2400240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Solo se conoce al terminar la llamada; incluirla produce fuga de información.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67013" y="3028057"/>
            <a:ext cx="83758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FFC247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467013" y="3285827"/>
            <a:ext cx="2400240" cy="19050"/>
          </a:xfrm>
          <a:prstGeom prst="rect">
            <a:avLst/>
          </a:prstGeom>
          <a:solidFill>
            <a:srgbClr val="FFC247"/>
          </a:solidFill>
          <a:ln/>
        </p:spPr>
      </p:sp>
      <p:sp>
        <p:nvSpPr>
          <p:cNvPr id="10" name="Text 8"/>
          <p:cNvSpPr/>
          <p:nvPr/>
        </p:nvSpPr>
        <p:spPr>
          <a:xfrm>
            <a:off x="3467013" y="3430611"/>
            <a:ext cx="2400240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Conservar unknown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3467013" y="3849390"/>
            <a:ext cx="2400240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Los valores no informados se mantienen como categoría válida.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24442" y="3028057"/>
            <a:ext cx="838576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FFC247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324442" y="3285827"/>
            <a:ext cx="2400240" cy="19050"/>
          </a:xfrm>
          <a:prstGeom prst="rect">
            <a:avLst/>
          </a:prstGeom>
          <a:solidFill>
            <a:srgbClr val="FFC247"/>
          </a:solidFill>
          <a:ln/>
        </p:spPr>
      </p:sp>
      <p:sp>
        <p:nvSpPr>
          <p:cNvPr id="14" name="Text 12"/>
          <p:cNvSpPr/>
          <p:nvPr/>
        </p:nvSpPr>
        <p:spPr>
          <a:xfrm>
            <a:off x="6324442" y="3430611"/>
            <a:ext cx="2400240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Transformar pdays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324442" y="3849390"/>
            <a:ext cx="2400240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-1 se convierte en </a:t>
            </a:r>
            <a:pPr algn="l" indent="0" marL="0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contactado_antes</a:t>
            </a:r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y luego en 0.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81870" y="3028057"/>
            <a:ext cx="84294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FFC247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181870" y="3285827"/>
            <a:ext cx="2400240" cy="19050"/>
          </a:xfrm>
          <a:prstGeom prst="rect">
            <a:avLst/>
          </a:prstGeom>
          <a:solidFill>
            <a:srgbClr val="FFC247"/>
          </a:solidFill>
          <a:ln/>
        </p:spPr>
      </p:sp>
      <p:sp>
        <p:nvSpPr>
          <p:cNvPr id="18" name="Text 16"/>
          <p:cNvSpPr/>
          <p:nvPr/>
        </p:nvSpPr>
        <p:spPr>
          <a:xfrm>
            <a:off x="9181870" y="3430611"/>
            <a:ext cx="2400240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Codificar y escalar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9181870" y="3849390"/>
            <a:ext cx="2400240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One-Hot para categóricas y estandarización ajustada solo con entrenamiento.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9585" y="6065222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Si usamos duration, el modelo aprende información disponible solo después del contacto.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70700" y="6444952"/>
            <a:ext cx="620995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1510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 prueba queda aislada hasta el final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932433"/>
            <a:ext cx="3428914" cy="69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200" spc="-52" kern="100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27.126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09585" y="2738656"/>
            <a:ext cx="3657509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60% Entrenamiento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09585" y="3114159"/>
            <a:ext cx="3657509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Aprender pesos y normalización.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95688" y="1932433"/>
            <a:ext cx="3200320" cy="69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200" spc="-52" kern="100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9.042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495688" y="2738656"/>
            <a:ext cx="3428914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20% Validación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495688" y="3114159"/>
            <a:ext cx="342891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Elegir arquitectura e hiperparámetros.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53196" y="1932433"/>
            <a:ext cx="3428914" cy="69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200" spc="-52" kern="100" dirty="0">
                <a:solidFill>
                  <a:srgbClr val="FFC24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9.043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8153196" y="2738656"/>
            <a:ext cx="3428914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20% Prueba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153196" y="3114159"/>
            <a:ext cx="342891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Medir generalización una sola vez.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9585" y="4041477"/>
            <a:ext cx="6350" cy="1462782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13" name="Text 11"/>
          <p:cNvSpPr/>
          <p:nvPr/>
        </p:nvSpPr>
        <p:spPr>
          <a:xfrm>
            <a:off x="819130" y="4056781"/>
            <a:ext cx="5048124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Partición estratificada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19130" y="4475559"/>
            <a:ext cx="504812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La clase positiva se mantiene cerca de </a:t>
            </a:r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11,7%</a:t>
            </a:r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en los tres subconjuntos.</a:t>
            </a:r>
            <a:endParaRPr lang="en-US" sz="12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Desbalance: se utilizaron pesos de clase calculados solo con entrenamiento, dando mayor importancia a la clase </a:t>
            </a:r>
            <a:pPr algn="l" indent="0" marL="0">
              <a:lnSpc>
                <a:spcPct val="121000"/>
              </a:lnSpc>
              <a:buNone/>
            </a:pPr>
            <a:r>
              <a:rPr lang="en-US" sz="1250" i="1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yes</a:t>
            </a:r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24442" y="4041477"/>
            <a:ext cx="6350" cy="1462782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16" name="Text 14"/>
          <p:cNvSpPr/>
          <p:nvPr/>
        </p:nvSpPr>
        <p:spPr>
          <a:xfrm>
            <a:off x="6533987" y="4056781"/>
            <a:ext cx="5048124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Preprocesador aislado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533987" y="4475559"/>
            <a:ext cx="5048124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Escaladores y codificadores se ajustan solo con entrenamiento.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60743" y="1856482"/>
            <a:ext cx="12700" cy="1440954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19" name="Shape 17"/>
          <p:cNvSpPr/>
          <p:nvPr/>
        </p:nvSpPr>
        <p:spPr>
          <a:xfrm>
            <a:off x="7918252" y="1856482"/>
            <a:ext cx="12700" cy="1440954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20" name="Text 18"/>
          <p:cNvSpPr/>
          <p:nvPr/>
        </p:nvSpPr>
        <p:spPr>
          <a:xfrm>
            <a:off x="11567823" y="6444952"/>
            <a:ext cx="623872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1510"/>
            <a:ext cx="5537061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 red base es pequeña: 51–64–32–1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804114"/>
            <a:ext cx="5892653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Un MLP compacto para establecer el punto de partida.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09585" y="2333129"/>
            <a:ext cx="5537061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Entrada:</a:t>
            </a:r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51 variables tras One-Hot y estandarización.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585" y="2766516"/>
            <a:ext cx="5537061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Ocultas:</a:t>
            </a:r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64 y 32 neuronas con ReLU.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585" y="3199904"/>
            <a:ext cx="5537061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Salida:</a:t>
            </a:r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1 neurona Sigmoid para probabilidad de </a:t>
            </a:r>
            <a:pPr algn="l" indent="0" marL="0">
              <a:lnSpc>
                <a:spcPct val="121000"/>
              </a:lnSpc>
              <a:buNone/>
            </a:pPr>
            <a:r>
              <a:rPr lang="en-US" sz="1250" i="1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yes</a:t>
            </a:r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09585" y="3633291"/>
            <a:ext cx="5537061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Base:</a:t>
            </a:r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Adam, lr = 0,001, batch = 32, 30 épocas.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585" y="4176216"/>
            <a:ext cx="5536962" cy="19050"/>
          </a:xfrm>
          <a:prstGeom prst="roundRect">
            <a:avLst>
              <a:gd name="adj" fmla="val 49999"/>
            </a:avLst>
          </a:prstGeom>
          <a:solidFill>
            <a:srgbClr val="4E4F53"/>
          </a:solidFill>
          <a:ln/>
        </p:spPr>
      </p:sp>
      <p:sp>
        <p:nvSpPr>
          <p:cNvPr id="9" name="Text 7"/>
          <p:cNvSpPr/>
          <p:nvPr/>
        </p:nvSpPr>
        <p:spPr>
          <a:xfrm>
            <a:off x="609585" y="4409103"/>
            <a:ext cx="5892653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C24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5.441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parámetros entrenables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756231" y="609600"/>
            <a:ext cx="4825879" cy="5087144"/>
          </a:xfrm>
          <a:prstGeom prst="rect">
            <a:avLst/>
          </a:prstGeom>
          <a:noFill/>
          <a:ln w="12700">
            <a:solidFill>
              <a:srgbClr val="F2F2F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6231" y="609600"/>
            <a:ext cx="4825879" cy="50871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56231" y="5876608"/>
            <a:ext cx="4825879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El entrenamiento continúa mejorando, pero esa mejora no se refleja de la misma forma en validación; por eso se prueban menos épocas.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9585" y="2658566"/>
            <a:ext cx="5537061" cy="12700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14" name="Shape 11"/>
          <p:cNvSpPr/>
          <p:nvPr/>
        </p:nvSpPr>
        <p:spPr>
          <a:xfrm>
            <a:off x="609585" y="3091954"/>
            <a:ext cx="5537061" cy="12700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15" name="Shape 12"/>
          <p:cNvSpPr/>
          <p:nvPr/>
        </p:nvSpPr>
        <p:spPr>
          <a:xfrm>
            <a:off x="609585" y="3525341"/>
            <a:ext cx="5537061" cy="12700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16" name="Text 13"/>
          <p:cNvSpPr/>
          <p:nvPr/>
        </p:nvSpPr>
        <p:spPr>
          <a:xfrm>
            <a:off x="11571196" y="6444952"/>
            <a:ext cx="620499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1510"/>
            <a:ext cx="6705432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Mejor configuración inicial: 15 épocas, batch 64 y lr 0,001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804670"/>
            <a:ext cx="7315017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Selección por F1 en validación, un hiperparámetro a la vez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220416"/>
            <a:ext cx="6705432" cy="37956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38979" y="1469206"/>
            <a:ext cx="2743131" cy="1955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14" kern="100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 mejor combinación inicial: 15 épocas, batch 64 y lr 0,001.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838979" y="3624560"/>
            <a:ext cx="2743131" cy="19050"/>
          </a:xfrm>
          <a:prstGeom prst="roundRect">
            <a:avLst>
              <a:gd name="adj" fmla="val 49999"/>
            </a:avLst>
          </a:prstGeom>
          <a:solidFill>
            <a:srgbClr val="4E4F53"/>
          </a:solidFill>
          <a:ln/>
        </p:spPr>
      </p:sp>
      <p:sp>
        <p:nvSpPr>
          <p:cNvPr id="7" name="Text 4"/>
          <p:cNvSpPr/>
          <p:nvPr/>
        </p:nvSpPr>
        <p:spPr>
          <a:xfrm>
            <a:off x="8838979" y="3854748"/>
            <a:ext cx="2743131" cy="920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F1: </a:t>
            </a:r>
            <a:pPr algn="l" indent="0" marL="0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0,4485</a:t>
            </a:r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con 15 épocas frente a </a:t>
            </a:r>
            <a:pPr algn="l" indent="0" marL="0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0,3946</a:t>
            </a:r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con 50; en esta configuración, aumentar las épocas redujo el F1 de validación.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838979" y="5047436"/>
            <a:ext cx="2743131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Los experimentos se compararon con F1 en validación.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568418" y="6444952"/>
            <a:ext cx="623277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3663"/>
            <a:ext cx="10972526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150" spc="-11" kern="100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Tanh, MSE y RMSprop llevan F1 a 0,4782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09585" y="979241"/>
            <a:ext cx="6389329" cy="150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Se eligieron por evidencia en validación, no por ser la opción estándar.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09585" y="1510739"/>
            <a:ext cx="5333867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Activaciones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717873"/>
            <a:ext cx="3200320" cy="25345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48244" y="1510739"/>
            <a:ext cx="5333867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Pérdidas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244" y="1717873"/>
            <a:ext cx="3200320" cy="2534543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4311848"/>
          <a:ext cx="10972526" cy="914400"/>
        </p:xfrm>
        <a:graphic>
          <a:graphicData uri="http://schemas.openxmlformats.org/drawingml/2006/table">
            <a:tbl>
              <a:tblPr/>
              <a:tblGrid>
                <a:gridCol w="3291698"/>
                <a:gridCol w="4937597"/>
                <a:gridCol w="2743231"/>
              </a:tblGrid>
              <a:tr h="3377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3A39D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Componente</a:t>
                      </a:r>
                      <a:endParaRPr lang="en-US" sz="8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3A39D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Comparación</a:t>
                      </a:r>
                      <a:endParaRPr lang="en-US" sz="8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3A39D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Mejor F1</a:t>
                      </a:r>
                      <a:endParaRPr lang="en-US" sz="8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7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Activación</a:t>
                      </a:r>
                      <a:endParaRPr lang="en-US" sz="8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Sigmoid 0,4410 · ReLU 0,4459 · </a:t>
                      </a:r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Tanh</a:t>
                      </a:r>
                      <a:endParaRPr lang="en-US" sz="8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C247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0,4552</a:t>
                      </a:r>
                      <a:endParaRPr lang="en-US" sz="8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7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Pérdida</a:t>
                      </a:r>
                      <a:endParaRPr lang="en-US" sz="8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Binary Crossentropy 0,4587 · </a:t>
                      </a:r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MSE</a:t>
                      </a:r>
                      <a:endParaRPr lang="en-US" sz="8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C247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0,4653</a:t>
                      </a:r>
                      <a:endParaRPr lang="en-US" sz="8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7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Optimizador</a:t>
                      </a:r>
                      <a:endParaRPr lang="en-US" sz="8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SGD 0,3828 · Adam 0,4538 · </a:t>
                      </a:r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RMSprop</a:t>
                      </a:r>
                      <a:endParaRPr lang="en-US" sz="8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C247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0,4782</a:t>
                      </a:r>
                      <a:endParaRPr lang="en-US" sz="8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609585" y="6140339"/>
            <a:ext cx="11582110" cy="113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650" spc="3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RMSprop fue el mayor salto; SGD quedó descartado.</a:t>
            </a:r>
            <a:endParaRPr lang="en-US" sz="650" dirty="0"/>
          </a:p>
        </p:txBody>
      </p:sp>
      <p:sp>
        <p:nvSpPr>
          <p:cNvPr id="10" name="Text 5"/>
          <p:cNvSpPr/>
          <p:nvPr/>
        </p:nvSpPr>
        <p:spPr>
          <a:xfrm>
            <a:off x="11576951" y="6444952"/>
            <a:ext cx="614744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1510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 regularización redujo el F1 de validación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9585" y="1347192"/>
            <a:ext cx="5257668" cy="6350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561425"/>
            <a:ext cx="5257668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Sin regularización · seleccionada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09585" y="2048069"/>
            <a:ext cx="5257668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40" kern="100" dirty="0">
                <a:solidFill>
                  <a:srgbClr val="FFC24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0,4841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585" y="2645493"/>
            <a:ext cx="5257668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Mejor F1 de validación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09585" y="3064272"/>
            <a:ext cx="5257668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La combinación de L2, Batch Normalization y Dropout obtuvo menor F1 de validación que el modelo sin regularización.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4442" y="1347192"/>
            <a:ext cx="5257668" cy="6350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9" name="Text 7"/>
          <p:cNvSpPr/>
          <p:nvPr/>
        </p:nvSpPr>
        <p:spPr>
          <a:xfrm>
            <a:off x="6324442" y="1561425"/>
            <a:ext cx="5257668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Con regularización · descartada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24442" y="2048069"/>
            <a:ext cx="5257668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40" kern="100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0,4143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324442" y="2645493"/>
            <a:ext cx="5257668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Caída de 7 puntos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324442" y="3064272"/>
            <a:ext cx="5257668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L2, Batch Normalization y Dropout 20%/30% redujeron el desempeño de validación en esta configuración.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9585" y="3651647"/>
            <a:ext cx="6350" cy="2362101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14" name="Text 12"/>
          <p:cNvSpPr/>
          <p:nvPr/>
        </p:nvSpPr>
        <p:spPr>
          <a:xfrm>
            <a:off x="819130" y="3666950"/>
            <a:ext cx="6099717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Decisión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19130" y="4085729"/>
            <a:ext cx="6099717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Se conserva el modelo sin regularización explícita: </a:t>
            </a:r>
            <a:pPr algn="l" indent="0" marL="0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0,4841 &gt; 0,4143</a:t>
            </a:r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.</a:t>
            </a:r>
            <a:endParaRPr lang="en-US" sz="1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5936" y="3880247"/>
            <a:ext cx="3667529" cy="190490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567823" y="6444952"/>
            <a:ext cx="623872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1510"/>
            <a:ext cx="5537061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Configuración final: compacta y reproducible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799431"/>
            <a:ext cx="5537061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Arquitectura:</a:t>
            </a:r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51 entradas, capas 64 y 32 neuronas.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09585" y="2486819"/>
            <a:ext cx="5537061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Activaciones:</a:t>
            </a:r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tanh en ocultas y Sigmoid en salida.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585" y="3174206"/>
            <a:ext cx="5537061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Entrenamiento:</a:t>
            </a:r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RMSprop, lr 0,001, MSE, batch 64.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585" y="3861594"/>
            <a:ext cx="5537061" cy="1136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Control:</a:t>
            </a:r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máximo 15 épocas; EarlyStopping configurado con restauración de los mejores pesos.</a:t>
            </a:r>
            <a:endParaRPr lang="en-US" sz="1250" dirty="0"/>
          </a:p>
          <a:p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Desbalance:</a:t>
            </a:r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class_weight balanced durante el entrenamiento.</a:t>
            </a:r>
            <a:endParaRPr lang="en-US" sz="12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Se completaron las 15 épocas.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9585" y="5209381"/>
            <a:ext cx="5536962" cy="19050"/>
          </a:xfrm>
          <a:prstGeom prst="roundRect">
            <a:avLst>
              <a:gd name="adj" fmla="val 49999"/>
            </a:avLst>
          </a:prstGeom>
          <a:solidFill>
            <a:srgbClr val="4E4F53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5439569"/>
            <a:ext cx="5892653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Sin regularización: fue la alternativa con mejor F1 de validación.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56231" y="609600"/>
            <a:ext cx="4825879" cy="5275659"/>
          </a:xfrm>
          <a:prstGeom prst="rect">
            <a:avLst/>
          </a:prstGeom>
          <a:noFill/>
          <a:ln w="12700">
            <a:solidFill>
              <a:srgbClr val="F2F2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6231" y="609600"/>
            <a:ext cx="4825879" cy="527565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56231" y="6065123"/>
            <a:ext cx="543546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Curvas de la arquitectura final.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9585" y="2251869"/>
            <a:ext cx="5537061" cy="12700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585" y="2939256"/>
            <a:ext cx="5537061" cy="12700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14" name="Shape 11"/>
          <p:cNvSpPr/>
          <p:nvPr/>
        </p:nvSpPr>
        <p:spPr>
          <a:xfrm>
            <a:off x="609585" y="3626644"/>
            <a:ext cx="5537061" cy="12700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15" name="Text 12"/>
          <p:cNvSpPr/>
          <p:nvPr/>
        </p:nvSpPr>
        <p:spPr>
          <a:xfrm>
            <a:off x="11568418" y="6444952"/>
            <a:ext cx="623277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1510"/>
            <a:ext cx="5994250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 prueba, captura 53,69% de los clientes positivos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804114"/>
            <a:ext cx="6299042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Resultado final sobre </a:t>
            </a:r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9.043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registros no vistos.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09585" y="2169033"/>
            <a:ext cx="126996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00" spc="-22" kern="100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85,36%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9585" y="2619157"/>
            <a:ext cx="1498563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Accuracy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36742" y="2169033"/>
            <a:ext cx="104137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00" spc="-22" kern="100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40,51%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336742" y="2619157"/>
            <a:ext cx="1269968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Precision (yes)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35304" y="2169033"/>
            <a:ext cx="104137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00" spc="-22" kern="100" dirty="0">
                <a:solidFill>
                  <a:srgbClr val="FFC24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53,69%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35304" y="2619157"/>
            <a:ext cx="1269968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Recall (yes)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33867" y="2169033"/>
            <a:ext cx="126996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00" spc="-22" kern="100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46,18%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33867" y="2619157"/>
            <a:ext cx="1269968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F1-Score (yes)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872482"/>
          <a:ext cx="5994250" cy="914400"/>
        </p:xfrm>
        <a:graphic>
          <a:graphicData uri="http://schemas.openxmlformats.org/drawingml/2006/table">
            <a:tbl>
              <a:tblPr/>
              <a:tblGrid>
                <a:gridCol w="1798196"/>
                <a:gridCol w="2097928"/>
                <a:gridCol w="2098126"/>
              </a:tblGrid>
              <a:tr h="476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A3A39D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Condición real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A3A39D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Predicho: No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A3A39D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Predicho: Yes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35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No contrata (7.985)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7.151</a:t>
                      </a:r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 (VN)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834 (FP)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Contrata (1.058)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9D9D4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490 (FN)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C247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568</a:t>
                      </a:r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C247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 (VP)</a:t>
                      </a:r>
                      <a:endParaRPr lang="en-US" sz="145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4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09585" y="4739461"/>
            <a:ext cx="5994250" cy="565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De los clientes predichos como positivos, el 40,51% realmente contrató. </a:t>
            </a:r>
            <a:pPr algn="l" indent="0" marL="0">
              <a:lnSpc>
                <a:spcPct val="112000"/>
              </a:lnSpc>
              <a:buNone/>
            </a:pPr>
            <a:r>
              <a:rPr lang="en-US" sz="1100" b="1" spc="5" kern="100" dirty="0">
                <a:solidFill>
                  <a:srgbClr val="A3A39D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Precision 40,51% · Recall 53,69%</a:t>
            </a:r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Precision = VP/(VP+FP) · Recall = VP/(VP+FN) · F1 = 2PR/(P+R)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9585" y="5510907"/>
            <a:ext cx="5994151" cy="19050"/>
          </a:xfrm>
          <a:prstGeom prst="roundRect">
            <a:avLst>
              <a:gd name="adj" fmla="val 49999"/>
            </a:avLst>
          </a:prstGeom>
          <a:solidFill>
            <a:srgbClr val="4E4F53"/>
          </a:solidFill>
          <a:ln/>
        </p:spPr>
      </p:sp>
      <p:sp>
        <p:nvSpPr>
          <p:cNvPr id="15" name="Text 12"/>
          <p:cNvSpPr/>
          <p:nvPr/>
        </p:nvSpPr>
        <p:spPr>
          <a:xfrm>
            <a:off x="609585" y="5743793"/>
            <a:ext cx="5994250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Conclusión: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el MLP detecta 568 de 1.058 clientes positivos (53,69%) y permite priorizar contactos frente al baseline que ignora positivos.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111822" y="609600"/>
            <a:ext cx="4470288" cy="5707459"/>
          </a:xfrm>
          <a:prstGeom prst="rect">
            <a:avLst/>
          </a:prstGeom>
          <a:noFill/>
          <a:ln w="12700">
            <a:solidFill>
              <a:srgbClr val="F2F2F0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2" y="609600"/>
            <a:ext cx="4470288" cy="570745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11822" y="6496923"/>
            <a:ext cx="5079873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Matriz de confusión: 7.151 VN, 834 FP, 490 FN y 568 VP.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101797" y="2136477"/>
            <a:ext cx="12700" cy="665956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20" name="Shape 16"/>
          <p:cNvSpPr/>
          <p:nvPr/>
        </p:nvSpPr>
        <p:spPr>
          <a:xfrm>
            <a:off x="3600360" y="2136477"/>
            <a:ext cx="12700" cy="665956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21" name="Shape 17"/>
          <p:cNvSpPr/>
          <p:nvPr/>
        </p:nvSpPr>
        <p:spPr>
          <a:xfrm>
            <a:off x="5098922" y="2136477"/>
            <a:ext cx="12700" cy="665956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22" name="Text 18"/>
          <p:cNvSpPr/>
          <p:nvPr/>
        </p:nvSpPr>
        <p:spPr>
          <a:xfrm>
            <a:off x="11511270" y="6444952"/>
            <a:ext cx="680425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2026-10-10T13:03:35Z</dcterms:created>
  <dcterms:modified xsi:type="dcterms:W3CDTF">2026-10-10T13:03:35Z</dcterms:modified>
</cp:coreProperties>
</file>